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9" r:id="rId11"/>
    <p:sldId id="348" r:id="rId12"/>
    <p:sldId id="347" r:id="rId13"/>
    <p:sldId id="341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204" y="6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8161812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By </a:t>
            </a:r>
            <a:r>
              <a:rPr lang="en-US" dirty="0">
                <a:solidFill>
                  <a:schemeClr val="tx1"/>
                </a:solidFill>
              </a:rPr>
              <a:t>Mannat Sharma 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Sanatan Dharma College 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750243"/>
            <a:ext cx="8839709" cy="83795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32458" y="4489169"/>
            <a:ext cx="47093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STU6a2da00d593fb1781374989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537856"/>
            <a:ext cx="6703726" cy="394568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Agricultural activities are influenced by seasonal variations in environmental conditions,</a:t>
            </a:r>
          </a:p>
          <a:p>
            <a:r>
              <a:rPr lang="en-US" dirty="0"/>
              <a:t>farming practices, resource availability and market conditions. As a result, agricultural</a:t>
            </a:r>
          </a:p>
          <a:p>
            <a:r>
              <a:rPr lang="en-US" dirty="0"/>
              <a:t>performance may differ from one season to another.</a:t>
            </a:r>
          </a:p>
          <a:p>
            <a:r>
              <a:rPr lang="en-US" dirty="0"/>
              <a:t>However, raw agricultural data does not clearly explain how agricultural performance changes</a:t>
            </a:r>
          </a:p>
          <a:p>
            <a:r>
              <a:rPr lang="en-US" dirty="0"/>
              <a:t>across seasons or what patterns can be observed in different seasonal conditions.</a:t>
            </a:r>
          </a:p>
          <a:p>
            <a:r>
              <a:rPr lang="en-US" dirty="0"/>
              <a:t>The problem is to analyze the given agricultural dataset and investigate seasonal differences</a:t>
            </a:r>
          </a:p>
          <a:p>
            <a:r>
              <a:rPr lang="en-US" dirty="0"/>
              <a:t>in agricultural performance by identifying meaningful patterns, trends, relationships and</a:t>
            </a:r>
          </a:p>
          <a:p>
            <a:r>
              <a:rPr lang="en-US" dirty="0"/>
              <a:t>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5289C7-E341-878A-C2EF-75F35100585C}"/>
              </a:ext>
            </a:extLst>
          </p:cNvPr>
          <p:cNvSpPr txBox="1"/>
          <p:nvPr/>
        </p:nvSpPr>
        <p:spPr>
          <a:xfrm>
            <a:off x="675957" y="2064327"/>
            <a:ext cx="828793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/>
              <a:t>The project analyzes a dataset containing </a:t>
            </a:r>
            <a:r>
              <a:rPr lang="en-US" sz="2000" b="1" dirty="0"/>
              <a:t>4,000 farm-level records and 28 variables</a:t>
            </a:r>
            <a:r>
              <a:rPr lang="en-US" sz="2000" dirty="0"/>
              <a:t>. </a:t>
            </a:r>
          </a:p>
          <a:p>
            <a:pPr lvl="0"/>
            <a:r>
              <a:rPr lang="en-US" sz="2000" dirty="0"/>
              <a:t>The dataset covers </a:t>
            </a:r>
            <a:r>
              <a:rPr lang="en-US" sz="2000" b="1" dirty="0"/>
              <a:t>8 states, 10 districts, 8 crops and 3 seasons — Kharif, Rabi and Zaid</a:t>
            </a:r>
            <a:r>
              <a:rPr lang="en-US" sz="2000" dirty="0"/>
              <a:t>. </a:t>
            </a:r>
          </a:p>
          <a:p>
            <a:pPr lvl="0"/>
            <a:r>
              <a:rPr lang="en-US" sz="2000" dirty="0"/>
              <a:t>The analysis includes data exploration, cleaning, preparation, statistical analysis and visualization. </a:t>
            </a:r>
          </a:p>
          <a:p>
            <a:pPr lvl="0"/>
            <a:r>
              <a:rPr lang="en-US" sz="2000" dirty="0"/>
              <a:t>Key performance measures include </a:t>
            </a:r>
            <a:r>
              <a:rPr lang="en-US" sz="2000" b="1" dirty="0"/>
              <a:t>yield, production, revenue, cost, profit, water usage, water efficiency and disease/pest risk</a:t>
            </a:r>
            <a:r>
              <a:rPr lang="en-US" sz="2000" dirty="0"/>
              <a:t>. </a:t>
            </a:r>
          </a:p>
          <a:p>
            <a:pPr lvl="0"/>
            <a:r>
              <a:rPr lang="en-US" sz="2000" dirty="0"/>
              <a:t>The objective is to convert raw agricultural data into meaningful insights for better seasonal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sz="3600" b="1" dirty="0"/>
              <a:t>Farmers and Farm Managers</a:t>
            </a:r>
            <a:r>
              <a:rPr lang="en-US" sz="3600" dirty="0"/>
              <a:t> — To compare productivity, costs, profits and resource utilization across seasons. </a:t>
            </a:r>
          </a:p>
          <a:p>
            <a:pPr lvl="0"/>
            <a:r>
              <a:rPr lang="en-US" sz="3600" b="1" dirty="0"/>
              <a:t>Agricultural Planners and Departments</a:t>
            </a:r>
            <a:r>
              <a:rPr lang="en-US" sz="3600" dirty="0"/>
              <a:t> — To understand seasonal patterns and identify areas requiring attention. </a:t>
            </a:r>
          </a:p>
          <a:p>
            <a:pPr lvl="0"/>
            <a:r>
              <a:rPr lang="en-US" sz="3600" b="1" dirty="0"/>
              <a:t>Agribusiness Stakeholders</a:t>
            </a:r>
            <a:r>
              <a:rPr lang="en-US" sz="3600" dirty="0"/>
              <a:t> — To understand crop production and economic variations. </a:t>
            </a:r>
          </a:p>
          <a:p>
            <a:pPr lvl="0"/>
            <a:r>
              <a:rPr lang="en-US" sz="3600" b="1" dirty="0"/>
              <a:t>Data Analysts and Researchers</a:t>
            </a:r>
            <a:r>
              <a:rPr lang="en-US" sz="3600" dirty="0"/>
              <a:t> — To study relationships between environmental conditions, farming practices and agricultural outcomes. </a:t>
            </a:r>
          </a:p>
          <a:p>
            <a:pPr lvl="0"/>
            <a:r>
              <a:rPr lang="en-US" sz="3600" b="1" dirty="0"/>
              <a:t>Students and Academic Evaluators</a:t>
            </a:r>
            <a:r>
              <a:rPr lang="en-US" sz="3600" dirty="0"/>
              <a:t> — To demonstrate a complete real-world data analytics workflow. 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63105"/>
            <a:ext cx="9027702" cy="5243448"/>
          </a:xfrm>
        </p:spPr>
        <p:txBody>
          <a:bodyPr>
            <a:normAutofit/>
          </a:bodyPr>
          <a:lstStyle/>
          <a:p>
            <a:r>
              <a:rPr lang="en-US" b="1" dirty="0"/>
              <a:t>Python</a:t>
            </a:r>
            <a:br>
              <a:rPr lang="en-US" dirty="0"/>
            </a:br>
            <a:r>
              <a:rPr lang="en-US" dirty="0"/>
              <a:t>Used for data analysis and preprocessing.</a:t>
            </a:r>
          </a:p>
          <a:p>
            <a:r>
              <a:rPr lang="en-US" b="1" dirty="0"/>
              <a:t>Pandas</a:t>
            </a:r>
            <a:br>
              <a:rPr lang="en-US" dirty="0"/>
            </a:br>
            <a:r>
              <a:rPr lang="en-US" dirty="0"/>
              <a:t>Used for data loading, cleaning, grouping and aggregation.</a:t>
            </a:r>
          </a:p>
          <a:p>
            <a:r>
              <a:rPr lang="en-US" b="1" dirty="0"/>
              <a:t>NumPy</a:t>
            </a:r>
            <a:br>
              <a:rPr lang="en-US" dirty="0"/>
            </a:br>
            <a:r>
              <a:rPr lang="en-US" dirty="0"/>
              <a:t>Used for numerical operations and data processing.</a:t>
            </a:r>
          </a:p>
          <a:p>
            <a:r>
              <a:rPr lang="en-US" b="1" dirty="0"/>
              <a:t>Matplotlib / Seaborn</a:t>
            </a:r>
            <a:br>
              <a:rPr lang="en-US" dirty="0"/>
            </a:br>
            <a:r>
              <a:rPr lang="en-US" dirty="0"/>
              <a:t>Used to create visualizations and identify patterns.</a:t>
            </a:r>
          </a:p>
          <a:p>
            <a:r>
              <a:rPr lang="en-US" b="1" dirty="0"/>
              <a:t>Jupyter Notebook</a:t>
            </a:r>
            <a:br>
              <a:rPr lang="en-US" dirty="0"/>
            </a:br>
            <a:r>
              <a:rPr lang="en-US" dirty="0"/>
              <a:t>Used to document and present the complete analysis workflow.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7B9C3-26F3-F118-A0CD-63B08232A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385" y="637785"/>
            <a:ext cx="6306430" cy="5582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CB8A-755B-E041-F6E5-E20392A6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F51D6-E7AA-06D3-60F9-19087D458B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E43C1E0-C631-D517-C303-E1F0D751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7F187-970A-8725-5EE0-9E304230EB5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CA409E7-3E0B-ED04-D5EF-02F6ED8BD3B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BE994-FA7F-5A02-5FC9-5958C466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3891" y="1311804"/>
            <a:ext cx="7578436" cy="55461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734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8BD5-9468-B1B1-46C4-A5230F90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4CCB3-46C5-702A-1EC5-A30068E3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27CDCD4-C416-6E37-EF8F-76F7AD9E8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3BDBB69-198C-37F0-E9BF-DBA623E6906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EFF0AD4-4528-2F65-9E6A-5905C7764BC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8DACD-335F-3E80-3F68-575CE114A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0195" y="1337339"/>
            <a:ext cx="6803009" cy="52311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7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6EE5B-8C8F-5D59-5B52-1B4F342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1C817C-FD70-4124-FCD6-CDC30093C9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465F6A-934D-2B69-3927-C9EE679D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34FE507-1116-BD55-268D-41A97A280D0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249419F-916E-599B-1179-DBF401CCB8D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E5D78-C21D-D567-AB63-EA7D2DC687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3957" y="3241544"/>
            <a:ext cx="6653902" cy="24905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87D2D-BC18-80EF-A612-BEAD50735E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71909" y="1346240"/>
            <a:ext cx="3470650" cy="24905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291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1B43C-C7FF-7CAB-462F-DD14AD5A3A07}"/>
              </a:ext>
            </a:extLst>
          </p:cNvPr>
          <p:cNvSpPr txBox="1"/>
          <p:nvPr/>
        </p:nvSpPr>
        <p:spPr>
          <a:xfrm>
            <a:off x="928255" y="2015234"/>
            <a:ext cx="838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Develop an </a:t>
            </a:r>
            <a:r>
              <a:rPr lang="en-US" b="1" dirty="0"/>
              <a:t>interactive dashboard</a:t>
            </a:r>
            <a:r>
              <a:rPr lang="en-US" dirty="0"/>
              <a:t> for season, crop, state and irrigation-level analysis. </a:t>
            </a:r>
          </a:p>
          <a:p>
            <a:pPr lvl="0"/>
            <a:r>
              <a:rPr lang="en-US" dirty="0"/>
              <a:t>Apply </a:t>
            </a:r>
            <a:r>
              <a:rPr lang="en-US" b="1" dirty="0"/>
              <a:t>predictive analytics and machine learning</a:t>
            </a:r>
            <a:r>
              <a:rPr lang="en-US" dirty="0"/>
              <a:t> to estimate yield, profit and disease/pest risk. </a:t>
            </a:r>
          </a:p>
          <a:p>
            <a:pPr lvl="0"/>
            <a:r>
              <a:rPr lang="en-US" dirty="0"/>
              <a:t>Integrate external </a:t>
            </a:r>
            <a:r>
              <a:rPr lang="en-US" b="1" dirty="0"/>
              <a:t>weather, market-price and soil datasets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Perform deeper analysis of relationships between environmental conditions, resource usage and agricultural outcomes. </a:t>
            </a:r>
          </a:p>
          <a:p>
            <a:pPr lvl="0"/>
            <a:r>
              <a:rPr lang="en-US" dirty="0"/>
              <a:t>Add multi-year data to identify </a:t>
            </a:r>
            <a:r>
              <a:rPr lang="en-US" b="1" dirty="0"/>
              <a:t>long-term seasonal trends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1E39F-6690-0F1B-7F2A-2EFEF4722ECF}"/>
              </a:ext>
            </a:extLst>
          </p:cNvPr>
          <p:cNvSpPr txBox="1"/>
          <p:nvPr/>
        </p:nvSpPr>
        <p:spPr>
          <a:xfrm>
            <a:off x="2349500" y="1941449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</a:t>
            </a:r>
            <a:r>
              <a:rPr lang="en-US" dirty="0" err="1"/>
              <a:t>github</a:t>
            </a:r>
            <a:r>
              <a:rPr lang="en-US" dirty="0"/>
              <a:t> link 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422940-2785-DE98-0943-DB704E575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99" y="1372985"/>
            <a:ext cx="7338810" cy="519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2" y="74944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1696" y="2741221"/>
            <a:ext cx="4534151" cy="1108635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/>
              <a:t>Seasonal Agriculture Performance Analysis</a:t>
            </a:r>
          </a:p>
          <a:p>
            <a:r>
              <a:rPr lang="en-US" sz="6400" dirty="0"/>
              <a:t>VOIS AICTE Batch 1 | Data Analytics Major Project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3C5B1-C884-729F-5EE1-418D4C82AE7F}"/>
              </a:ext>
            </a:extLst>
          </p:cNvPr>
          <p:cNvSpPr txBox="1"/>
          <p:nvPr/>
        </p:nvSpPr>
        <p:spPr>
          <a:xfrm>
            <a:off x="2690363" y="4575497"/>
            <a:ext cx="6026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MANNAT SHARMA FUTURE DATA ANALYST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659</TotalTime>
  <Words>459</Words>
  <Application>Microsoft Office PowerPoint</Application>
  <PresentationFormat>Widescreen</PresentationFormat>
  <Paragraphs>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mannat ss</cp:lastModifiedBy>
  <cp:revision>98</cp:revision>
  <dcterms:created xsi:type="dcterms:W3CDTF">2021-07-11T13:13:15Z</dcterms:created>
  <dcterms:modified xsi:type="dcterms:W3CDTF">2026-09-03T15:03:26Z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